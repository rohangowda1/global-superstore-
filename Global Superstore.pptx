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sldIdLst>
    <p:sldId id="262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29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31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1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35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253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46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49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7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2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9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8106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00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3135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48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20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4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387A4-6D75-4F82-8DFA-7B677F6C4330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209114A-2AF9-40BD-8EA6-D5FE0877D2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7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8FB389-972A-9C7E-00A1-E5302FB38A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2101" y="992035"/>
            <a:ext cx="8915399" cy="4873930"/>
          </a:xfrm>
        </p:spPr>
        <p:txBody>
          <a:bodyPr>
            <a:normAutofit fontScale="90000"/>
          </a:bodyPr>
          <a:lstStyle/>
          <a:p>
            <a:r>
              <a:rPr lang="en-US" dirty="0"/>
              <a:t>Global Superstore – Customer Purchase Trends &amp; 7‑Day Sales Forecast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4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7D89-346A-9F83-E458-D01B580B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7B8449-DD40-2505-C218-35A1D1B6C2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59792"/>
            <a:ext cx="748596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sales trends across regions, segments, and categories.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top customers and their purchase behavior.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seasonal peaks and declining regions/segments.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short‑term sales using a 7‑day moving average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828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6FF26-2DE8-3A5E-ED51-95089018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0B6571-7FA9-96F2-AC3D-0036AD0156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778002"/>
            <a:ext cx="773044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Converted Order Date into datetime format.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Checked for missing values → only 11 missing in Postal Code (0.11%), handled by replacing with “Unknown.”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cleaned and validated for duplicates.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33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1BBA1E-2943-34EA-43B1-DD50A82B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Insights: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C03ABE9-23DB-0D43-35DD-E89EB5AF6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60037" y="1711567"/>
            <a:ext cx="761180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region: ₹710,219 (highest revenue contributor).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East region: ₹669,518.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region: ₹492,647.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South region: ₹389,151 (lowest, needs attention).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08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1C6F9-2970-CE3E-042B-1183CDDD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Insights: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F0B1C0-3400-11A2-E977-8077EDB243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80900"/>
            <a:ext cx="9599075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customers spent ₹153,811 in total.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spend per customer = ₹2,851.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customers placed 7.3 orders on average, compared to overall average of 6.2 orders.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preferred by top 10: </a:t>
            </a:r>
          </a:p>
          <a:p>
            <a:pPr marL="685800" lvl="1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Technology: ₹106,739 </a:t>
            </a:r>
          </a:p>
          <a:p>
            <a:pPr marL="685800" lvl="1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 Supplies: ₹39,141 </a:t>
            </a:r>
          </a:p>
          <a:p>
            <a:pPr marL="685800" lvl="1" defTabSz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Furniture: ₹7,931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48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EA8F06-0A9C-88AF-53D6-C314536E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Category Growth (YOY):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ECA553-84F6-5E6B-D89A-677792154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1" y="1625701"/>
            <a:ext cx="9602789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Furniture: Grew steadily (2016: +4.8%, 2017: +19.3%, 2018: +8.8%). 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Office Supplies: Decline in 2016 (‑11%), then strong growth (2017: +37%, 2018: +31%). </a:t>
            </a:r>
          </a:p>
          <a:p>
            <a:pPr marL="0" marR="0" lvl="0" indent="0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Technology: Dip in 2016 (‑6.6%), then strong rebound (2017: +36.8%, 2018: +21.3%).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46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13B3-CCDA-A27A-6C7D-651C31452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Seasonal Trends: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0E0D3F-9869-8FD9-3871-7DC1C68629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51215"/>
            <a:ext cx="8224197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months: November (₹350,162) and December (₹321,480).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strong months: September (₹300,103) and March (₹197,574).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Seasonal spikes align with festive and year‑end periods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369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36B4A-B0BB-A17E-0C52-25234983D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Regional &amp; Segment Declines: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55CFC8-010D-AC0B-EDDF-5AFC4E2816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16087" y="1822823"/>
            <a:ext cx="9875913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South region: Sharp decline in 2016 (‑32%), recovered in 2017 (+33%) and 2018 (+30%).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region: Decline in 2016 (‑8.3%), strong growth afterward (+36% in 2017, +36% in 2018).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segment: Decline in 2016 (‑6.3%), then surged in 2017 (+71%) and 2018 (+15%).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Office segment: Decline in 2016 (‑16.5%), then strong growth (+39% in 2017, +51% in 2018).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249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AB98-AEBC-EE18-EA90-1AD5DD763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Approach: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87EE4F-EFAB-014C-748F-96044D16ED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69471"/>
            <a:ext cx="7460479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7‑day moving average on daily sales.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Last 7‑day average = ₹2,172.98/day.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this as baseline for next 7 days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03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6FB7-60F0-4574-A29D-2E0F8EF12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Results: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64545F-A3D6-C6DA-5B6C-E0F1DF4D8C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32074" y="1905000"/>
            <a:ext cx="7321142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Projected sales for next 7 days: ₹2,172.98/day (stable trend).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dates: Dec 31, 2018 → Jan 6, 2019.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sharp spikes expected in short term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822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B5167-0105-C573-7765-3E6287761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32FE1B-3D4A-4251-5E4F-86B85A036B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5087" y="1615056"/>
            <a:ext cx="1021706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Strategy: Focus on top 10 customers (loyalty programs).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Regional Strategy: Address South region decline with targeted campaigns.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 Strategy: Leverage Technology &amp; Office Supplies growth.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 Planning: Align inventory with seasonal peaks and forecasted demand (~₹2,173/day)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54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B2F2-5701-A791-43DB-8C8F1ED2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21454-6412-62EE-7C73-5D32EAABBF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2925" y="1678011"/>
            <a:ext cx="831647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dataset and validated missing values.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top customers, regions, and categories driving revenue.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Highlighted seasonal peaks and declining regions/segments.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Delivered a 7‑day forecast to support short‑term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0990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E5C35B-7096-AE4A-D661-0B03A4135A63}"/>
              </a:ext>
            </a:extLst>
          </p:cNvPr>
          <p:cNvSpPr/>
          <p:nvPr/>
        </p:nvSpPr>
        <p:spPr>
          <a:xfrm>
            <a:off x="2590241" y="1904529"/>
            <a:ext cx="7011518" cy="3048941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Deflate">
              <a:avLst/>
            </a:prstTxWarp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4029945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362</TotalTime>
  <Words>560</Words>
  <Application>Microsoft Office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Wingdings</vt:lpstr>
      <vt:lpstr>Wingdings 3</vt:lpstr>
      <vt:lpstr>Wisp</vt:lpstr>
      <vt:lpstr>Global Superstore – Customer Purchase Trends &amp; 7‑Day Sales Forecast  </vt:lpstr>
      <vt:lpstr>Objective:</vt:lpstr>
      <vt:lpstr>Data Preparation:</vt:lpstr>
      <vt:lpstr>Regional Insights:</vt:lpstr>
      <vt:lpstr>Customer Insights:</vt:lpstr>
      <vt:lpstr>Category Growth (YOY):</vt:lpstr>
      <vt:lpstr>Seasonal Trends:</vt:lpstr>
      <vt:lpstr>Regional &amp; Segment Declines:</vt:lpstr>
      <vt:lpstr>Forecasting Approach:</vt:lpstr>
      <vt:lpstr>Forecast Results:</vt:lpstr>
      <vt:lpstr>Business Impact: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S</dc:creator>
  <cp:lastModifiedBy>ROHAN S</cp:lastModifiedBy>
  <cp:revision>1</cp:revision>
  <dcterms:created xsi:type="dcterms:W3CDTF">2026-02-26T03:31:05Z</dcterms:created>
  <dcterms:modified xsi:type="dcterms:W3CDTF">2026-02-26T09:33:31Z</dcterms:modified>
</cp:coreProperties>
</file>